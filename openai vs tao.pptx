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78" r:id="rId3"/>
    <p:sldId id="283" r:id="rId4"/>
    <p:sldId id="284" r:id="rId5"/>
    <p:sldId id="285" r:id="rId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91"/>
  </p:normalViewPr>
  <p:slideViewPr>
    <p:cSldViewPr snapToGrid="0">
      <p:cViewPr varScale="1">
        <p:scale>
          <a:sx n="103" d="100"/>
          <a:sy n="103" d="100"/>
        </p:scale>
        <p:origin x="7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/>
      </a:defRPr>
    </a:lvl1pPr>
    <a:lvl2pPr indent="228600" latinLnBrk="0">
      <a:defRPr sz="1200">
        <a:latin typeface="+mn-lt"/>
        <a:ea typeface="+mn-ea"/>
        <a:cs typeface="+mn-cs"/>
        <a:sym typeface="等线"/>
      </a:defRPr>
    </a:lvl2pPr>
    <a:lvl3pPr indent="457200" latinLnBrk="0">
      <a:defRPr sz="1200">
        <a:latin typeface="+mn-lt"/>
        <a:ea typeface="+mn-ea"/>
        <a:cs typeface="+mn-cs"/>
        <a:sym typeface="等线"/>
      </a:defRPr>
    </a:lvl3pPr>
    <a:lvl4pPr indent="685800" latinLnBrk="0">
      <a:defRPr sz="1200">
        <a:latin typeface="+mn-lt"/>
        <a:ea typeface="+mn-ea"/>
        <a:cs typeface="+mn-cs"/>
        <a:sym typeface="等线"/>
      </a:defRPr>
    </a:lvl4pPr>
    <a:lvl5pPr indent="914400" latinLnBrk="0">
      <a:defRPr sz="1200">
        <a:latin typeface="+mn-lt"/>
        <a:ea typeface="+mn-ea"/>
        <a:cs typeface="+mn-cs"/>
        <a:sym typeface="等线"/>
      </a:defRPr>
    </a:lvl5pPr>
    <a:lvl6pPr indent="1143000" latinLnBrk="0">
      <a:defRPr sz="1200">
        <a:latin typeface="+mn-lt"/>
        <a:ea typeface="+mn-ea"/>
        <a:cs typeface="+mn-cs"/>
        <a:sym typeface="等线"/>
      </a:defRPr>
    </a:lvl6pPr>
    <a:lvl7pPr indent="1371600" latinLnBrk="0">
      <a:defRPr sz="1200">
        <a:latin typeface="+mn-lt"/>
        <a:ea typeface="+mn-ea"/>
        <a:cs typeface="+mn-cs"/>
        <a:sym typeface="等线"/>
      </a:defRPr>
    </a:lvl7pPr>
    <a:lvl8pPr indent="1600200" latinLnBrk="0">
      <a:defRPr sz="1200">
        <a:latin typeface="+mn-lt"/>
        <a:ea typeface="+mn-ea"/>
        <a:cs typeface="+mn-cs"/>
        <a:sym typeface="等线"/>
      </a:defRPr>
    </a:lvl8pPr>
    <a:lvl9pPr indent="1828800" latinLnBrk="0">
      <a:defRPr sz="1200">
        <a:latin typeface="+mn-lt"/>
        <a:ea typeface="+mn-ea"/>
        <a:cs typeface="+mn-cs"/>
        <a:sym typeface="等线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标题文本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9654" y="-2"/>
            <a:ext cx="12188954" cy="6858000"/>
          </a:xfrm>
          <a:prstGeom prst="rect">
            <a:avLst/>
          </a:prstGeom>
          <a:solidFill>
            <a:srgbClr val="1A2B4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lang="en-US"/>
              <a:t>s</a:t>
            </a:r>
            <a:endParaRPr/>
          </a:p>
        </p:txBody>
      </p:sp>
      <p:sp>
        <p:nvSpPr>
          <p:cNvPr id="95" name="Rectangle 2"/>
          <p:cNvSpPr/>
          <p:nvPr/>
        </p:nvSpPr>
        <p:spPr>
          <a:xfrm>
            <a:off x="-1" y="-1"/>
            <a:ext cx="12188954" cy="73154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6" name="Rectangle 3"/>
          <p:cNvSpPr/>
          <p:nvPr/>
        </p:nvSpPr>
        <p:spPr>
          <a:xfrm>
            <a:off x="-1" y="6784847"/>
            <a:ext cx="12188954" cy="73153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7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/>
          </a:p>
        </p:txBody>
      </p:sp>
      <p:sp>
        <p:nvSpPr>
          <p:cNvPr id="98" name="Rectangle 5"/>
          <p:cNvSpPr/>
          <p:nvPr/>
        </p:nvSpPr>
        <p:spPr>
          <a:xfrm>
            <a:off x="717004" y="1986278"/>
            <a:ext cx="10515601" cy="2926082"/>
          </a:xfrm>
          <a:prstGeom prst="rect">
            <a:avLst/>
          </a:prstGeom>
          <a:solidFill>
            <a:srgbClr val="223A5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dirty="0"/>
          </a:p>
        </p:txBody>
      </p:sp>
      <p:sp>
        <p:nvSpPr>
          <p:cNvPr id="99" name="TextBox 6"/>
          <p:cNvSpPr txBox="1"/>
          <p:nvPr/>
        </p:nvSpPr>
        <p:spPr>
          <a:xfrm>
            <a:off x="868680" y="1371600"/>
            <a:ext cx="905256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8A99AA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dirty="0"/>
              <a:t>2026年</a:t>
            </a:r>
            <a:r>
              <a:rPr lang="en-US" dirty="0"/>
              <a:t>10</a:t>
            </a:r>
            <a:r>
              <a:rPr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</a:t>
            </a:r>
            <a:endParaRPr dirty="0"/>
          </a:p>
        </p:txBody>
      </p:sp>
      <p:sp>
        <p:nvSpPr>
          <p:cNvPr id="100" name="TextBox 7"/>
          <p:cNvSpPr txBox="1"/>
          <p:nvPr/>
        </p:nvSpPr>
        <p:spPr>
          <a:xfrm>
            <a:off x="868680" y="2103120"/>
            <a:ext cx="996696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endParaRPr sz="1400" dirty="0"/>
          </a:p>
        </p:txBody>
      </p:sp>
      <p:sp>
        <p:nvSpPr>
          <p:cNvPr id="101" name="TextBox 9"/>
          <p:cNvSpPr txBox="1"/>
          <p:nvPr/>
        </p:nvSpPr>
        <p:spPr>
          <a:xfrm>
            <a:off x="868680" y="4937759"/>
            <a:ext cx="448056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8A99AA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dirty="0" err="1"/>
              <a:t>房煦博（ボウ</a:t>
            </a:r>
            <a:r>
              <a:rPr dirty="0"/>
              <a:t>　</a:t>
            </a:r>
            <a:r>
              <a:rPr dirty="0" err="1"/>
              <a:t>クハク）</a:t>
            </a:r>
            <a:r>
              <a:rPr lang="en-US" dirty="0" err="1"/>
              <a:t>bou</a:t>
            </a:r>
            <a:r>
              <a:rPr lang="en-US" dirty="0"/>
              <a:t> </a:t>
            </a:r>
            <a:r>
              <a:rPr lang="en-US" dirty="0" err="1"/>
              <a:t>kuhaku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7A283-64CE-543F-4955-E7697026D717}"/>
              </a:ext>
            </a:extLst>
          </p:cNvPr>
          <p:cNvSpPr txBox="1"/>
          <p:nvPr/>
        </p:nvSpPr>
        <p:spPr>
          <a:xfrm>
            <a:off x="979714" y="2257008"/>
            <a:ext cx="10115730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zh-CN" sz="3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OpenAI vs. Mathematicians: The Question Behind 700 Papers</a:t>
            </a:r>
            <a:endParaRPr kumimoji="0" lang="zh-CN" altLang="en-US" sz="5400" b="1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3D71-CD4F-A598-577C-424D02952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2">
            <a:extLst>
              <a:ext uri="{FF2B5EF4-FFF2-40B4-BE49-F238E27FC236}">
                <a16:creationId xmlns:a16="http://schemas.microsoft.com/office/drawing/2014/main" id="{F452D5DF-ADDA-402E-87F6-87F9FF67815E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C0FC6C2B-C8D8-BADD-0C2B-FEDD5214F05D}"/>
              </a:ext>
            </a:extLst>
          </p:cNvPr>
          <p:cNvSpPr/>
          <p:nvPr/>
        </p:nvSpPr>
        <p:spPr>
          <a:xfrm>
            <a:off x="-1" y="-1"/>
            <a:ext cx="12188954" cy="1051562"/>
          </a:xfrm>
          <a:prstGeom prst="rect">
            <a:avLst/>
          </a:prstGeom>
          <a:solidFill>
            <a:srgbClr val="1A2B4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33" name="Rectangle 4">
            <a:extLst>
              <a:ext uri="{FF2B5EF4-FFF2-40B4-BE49-F238E27FC236}">
                <a16:creationId xmlns:a16="http://schemas.microsoft.com/office/drawing/2014/main" id="{0BD79800-1758-B10B-4905-3A4C35EC3B5E}"/>
              </a:ext>
            </a:extLst>
          </p:cNvPr>
          <p:cNvGrpSpPr/>
          <p:nvPr/>
        </p:nvGrpSpPr>
        <p:grpSpPr>
          <a:xfrm>
            <a:off x="228599" y="182879"/>
            <a:ext cx="640082" cy="640082"/>
            <a:chOff x="0" y="0"/>
            <a:chExt cx="640080" cy="640080"/>
          </a:xfrm>
        </p:grpSpPr>
        <p:sp>
          <p:nvSpPr>
            <p:cNvPr id="131" name="正方形">
              <a:extLst>
                <a:ext uri="{FF2B5EF4-FFF2-40B4-BE49-F238E27FC236}">
                  <a16:creationId xmlns:a16="http://schemas.microsoft.com/office/drawing/2014/main" id="{57917F3D-2F0D-2189-C80F-5D113CEE11AF}"/>
                </a:ext>
              </a:extLst>
            </p:cNvPr>
            <p:cNvSpPr/>
            <p:nvPr/>
          </p:nvSpPr>
          <p:spPr>
            <a:xfrm>
              <a:off x="-1" y="-1"/>
              <a:ext cx="640082" cy="640082"/>
            </a:xfrm>
            <a:prstGeom prst="rect">
              <a:avLst/>
            </a:prstGeom>
            <a:solidFill>
              <a:srgbClr val="2E86AB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2" name="01">
              <a:extLst>
                <a:ext uri="{FF2B5EF4-FFF2-40B4-BE49-F238E27FC236}">
                  <a16:creationId xmlns:a16="http://schemas.microsoft.com/office/drawing/2014/main" id="{821C24B8-0BF7-618A-E664-2C0F48FD060A}"/>
                </a:ext>
              </a:extLst>
            </p:cNvPr>
            <p:cNvSpPr txBox="1"/>
            <p:nvPr/>
          </p:nvSpPr>
          <p:spPr>
            <a:xfrm>
              <a:off x="45719" y="149949"/>
              <a:ext cx="548641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TextBox 5">
            <a:extLst>
              <a:ext uri="{FF2B5EF4-FFF2-40B4-BE49-F238E27FC236}">
                <a16:creationId xmlns:a16="http://schemas.microsoft.com/office/drawing/2014/main" id="{6A6A22BE-F78D-092E-CF0D-67312E0E9D42}"/>
              </a:ext>
            </a:extLst>
          </p:cNvPr>
          <p:cNvSpPr txBox="1"/>
          <p:nvPr/>
        </p:nvSpPr>
        <p:spPr>
          <a:xfrm>
            <a:off x="1051559" y="201168"/>
            <a:ext cx="1014984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zh-CN" dirty="0"/>
              <a:t>What Happened?</a:t>
            </a:r>
          </a:p>
        </p:txBody>
      </p:sp>
      <p:sp>
        <p:nvSpPr>
          <p:cNvPr id="135" name="Rectangle 6">
            <a:extLst>
              <a:ext uri="{FF2B5EF4-FFF2-40B4-BE49-F238E27FC236}">
                <a16:creationId xmlns:a16="http://schemas.microsoft.com/office/drawing/2014/main" id="{3BD5A9C2-1573-4089-1916-8B42EBD94C05}"/>
              </a:ext>
            </a:extLst>
          </p:cNvPr>
          <p:cNvSpPr/>
          <p:nvPr/>
        </p:nvSpPr>
        <p:spPr>
          <a:xfrm>
            <a:off x="228599" y="1097280"/>
            <a:ext cx="11704322" cy="27433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66B7B6-1965-266D-FB77-399EFA7EF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59" y="1170432"/>
            <a:ext cx="9865634" cy="554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5902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18595-3EA8-534D-C4BA-5841E5BA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2">
            <a:extLst>
              <a:ext uri="{FF2B5EF4-FFF2-40B4-BE49-F238E27FC236}">
                <a16:creationId xmlns:a16="http://schemas.microsoft.com/office/drawing/2014/main" id="{A3F1A0E0-8BCE-78DD-4BE9-A5DEA0D77F20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A44F1904-CEB3-2F59-0354-4A270B11EE75}"/>
              </a:ext>
            </a:extLst>
          </p:cNvPr>
          <p:cNvSpPr/>
          <p:nvPr/>
        </p:nvSpPr>
        <p:spPr>
          <a:xfrm>
            <a:off x="-1" y="-1"/>
            <a:ext cx="12188954" cy="1051562"/>
          </a:xfrm>
          <a:prstGeom prst="rect">
            <a:avLst/>
          </a:prstGeom>
          <a:solidFill>
            <a:srgbClr val="1A2B4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33" name="Rectangle 4">
            <a:extLst>
              <a:ext uri="{FF2B5EF4-FFF2-40B4-BE49-F238E27FC236}">
                <a16:creationId xmlns:a16="http://schemas.microsoft.com/office/drawing/2014/main" id="{1FA43359-7A71-729E-04E7-F84C514AA7B9}"/>
              </a:ext>
            </a:extLst>
          </p:cNvPr>
          <p:cNvGrpSpPr/>
          <p:nvPr/>
        </p:nvGrpSpPr>
        <p:grpSpPr>
          <a:xfrm>
            <a:off x="228599" y="182879"/>
            <a:ext cx="640082" cy="640082"/>
            <a:chOff x="0" y="0"/>
            <a:chExt cx="640080" cy="640080"/>
          </a:xfrm>
        </p:grpSpPr>
        <p:sp>
          <p:nvSpPr>
            <p:cNvPr id="131" name="正方形">
              <a:extLst>
                <a:ext uri="{FF2B5EF4-FFF2-40B4-BE49-F238E27FC236}">
                  <a16:creationId xmlns:a16="http://schemas.microsoft.com/office/drawing/2014/main" id="{778ADC97-0402-FF84-AE4C-20C18B156721}"/>
                </a:ext>
              </a:extLst>
            </p:cNvPr>
            <p:cNvSpPr/>
            <p:nvPr/>
          </p:nvSpPr>
          <p:spPr>
            <a:xfrm>
              <a:off x="-1" y="-1"/>
              <a:ext cx="640082" cy="640082"/>
            </a:xfrm>
            <a:prstGeom prst="rect">
              <a:avLst/>
            </a:prstGeom>
            <a:solidFill>
              <a:srgbClr val="2E86AB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2" name="01">
              <a:extLst>
                <a:ext uri="{FF2B5EF4-FFF2-40B4-BE49-F238E27FC236}">
                  <a16:creationId xmlns:a16="http://schemas.microsoft.com/office/drawing/2014/main" id="{29DE780A-8CD7-A275-1455-8A7EF7125FB9}"/>
                </a:ext>
              </a:extLst>
            </p:cNvPr>
            <p:cNvSpPr txBox="1"/>
            <p:nvPr/>
          </p:nvSpPr>
          <p:spPr>
            <a:xfrm>
              <a:off x="45719" y="149949"/>
              <a:ext cx="548641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TextBox 5">
            <a:extLst>
              <a:ext uri="{FF2B5EF4-FFF2-40B4-BE49-F238E27FC236}">
                <a16:creationId xmlns:a16="http://schemas.microsoft.com/office/drawing/2014/main" id="{0C7398F7-1269-C358-E571-788DC346BAE9}"/>
              </a:ext>
            </a:extLst>
          </p:cNvPr>
          <p:cNvSpPr txBox="1"/>
          <p:nvPr/>
        </p:nvSpPr>
        <p:spPr>
          <a:xfrm>
            <a:off x="1051559" y="201168"/>
            <a:ext cx="1014984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en-US" dirty="0"/>
              <a:t>My </a:t>
            </a:r>
            <a:r>
              <a:rPr lang="en-US" dirty="0" err="1"/>
              <a:t>opionion</a:t>
            </a:r>
            <a:endParaRPr dirty="0"/>
          </a:p>
        </p:txBody>
      </p:sp>
      <p:sp>
        <p:nvSpPr>
          <p:cNvPr id="135" name="Rectangle 6">
            <a:extLst>
              <a:ext uri="{FF2B5EF4-FFF2-40B4-BE49-F238E27FC236}">
                <a16:creationId xmlns:a16="http://schemas.microsoft.com/office/drawing/2014/main" id="{F7CCED4A-07B6-B272-C664-21EBE2D0B8DB}"/>
              </a:ext>
            </a:extLst>
          </p:cNvPr>
          <p:cNvSpPr/>
          <p:nvPr/>
        </p:nvSpPr>
        <p:spPr>
          <a:xfrm>
            <a:off x="228599" y="1097280"/>
            <a:ext cx="11704322" cy="27433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" name="TextBox 7">
            <a:extLst>
              <a:ext uri="{FF2B5EF4-FFF2-40B4-BE49-F238E27FC236}">
                <a16:creationId xmlns:a16="http://schemas.microsoft.com/office/drawing/2014/main" id="{3813644F-126F-EB91-9949-C32A81F8B2DB}"/>
              </a:ext>
            </a:extLst>
          </p:cNvPr>
          <p:cNvSpPr txBox="1"/>
          <p:nvPr/>
        </p:nvSpPr>
        <p:spPr>
          <a:xfrm>
            <a:off x="274319" y="1376484"/>
            <a:ext cx="11155682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br/>
            <a:endParaRPr/>
          </a:p>
          <a:p>
            <a:pPr>
              <a:defRPr sz="2000">
                <a:solidFill>
                  <a:srgbClr val="1A2B4A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　</a:t>
            </a:r>
          </a:p>
          <a:p>
            <a:pPr>
              <a:spcBef>
                <a:spcPts val="600"/>
              </a:spcBef>
              <a:defRPr sz="2000">
                <a:solidFill>
                  <a:srgbClr val="1A2B4A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B97F10-E7D7-420E-B5B7-17A27D855C21}"/>
              </a:ext>
            </a:extLst>
          </p:cNvPr>
          <p:cNvSpPr txBox="1"/>
          <p:nvPr/>
        </p:nvSpPr>
        <p:spPr>
          <a:xfrm>
            <a:off x="442686" y="1376484"/>
            <a:ext cx="11151906" cy="50167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zh-CN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AI: A Teacher for Everyone</a:t>
            </a:r>
            <a:endParaRPr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zh-CN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✅ Good #1 — Helps Engineers</a:t>
            </a:r>
          </a:p>
          <a:p>
            <a:pPr lvl="0"/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Before: reading logs line by line for hours</a:t>
            </a:r>
          </a:p>
          <a:p>
            <a:pPr lvl="0"/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Now: AI gives new ideas and directions → saves time</a:t>
            </a:r>
          </a:p>
          <a:p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✅ Good #2 — Helps Learners</a:t>
            </a:r>
          </a:p>
          <a:p>
            <a:pPr lvl="0"/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Hard subjects: electromagnetics, signals, probability</a:t>
            </a:r>
          </a:p>
          <a:p>
            <a:pPr lvl="0"/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Statistics teaches us to see hidden risks</a:t>
            </a:r>
          </a:p>
          <a:p>
            <a:pPr lvl="0"/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"I wasn't unable to learn. I just didn't have a teacher."</a:t>
            </a:r>
          </a:p>
          <a:p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❌ Bad — Publishing Without Checking</a:t>
            </a:r>
          </a:p>
          <a:p>
            <a:pPr lvl="0"/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The problem is not AI. It's humans not checking</a:t>
            </a:r>
          </a:p>
          <a:p>
            <a:pPr lvl="0"/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Agree with Tao: this release was a bad idea</a:t>
            </a:r>
          </a:p>
          <a:p>
            <a:pPr lvl="0"/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Disagree: we should not stay away from AI</a:t>
            </a:r>
          </a:p>
          <a:p>
            <a:endParaRPr kumimoji="0" lang="zh-CN" altLang="en-US" sz="20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81651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A65C0-0B8B-47A7-9D78-3DB290FBE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2">
            <a:extLst>
              <a:ext uri="{FF2B5EF4-FFF2-40B4-BE49-F238E27FC236}">
                <a16:creationId xmlns:a16="http://schemas.microsoft.com/office/drawing/2014/main" id="{F0684E4D-8996-4180-6E2C-D066DB430AE8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B28271F1-C04D-3CA8-D6F9-45B2392F6850}"/>
              </a:ext>
            </a:extLst>
          </p:cNvPr>
          <p:cNvSpPr/>
          <p:nvPr/>
        </p:nvSpPr>
        <p:spPr>
          <a:xfrm>
            <a:off x="-13717" y="0"/>
            <a:ext cx="12188954" cy="1051562"/>
          </a:xfrm>
          <a:prstGeom prst="rect">
            <a:avLst/>
          </a:prstGeom>
          <a:solidFill>
            <a:srgbClr val="1A2B4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33" name="Rectangle 4">
            <a:extLst>
              <a:ext uri="{FF2B5EF4-FFF2-40B4-BE49-F238E27FC236}">
                <a16:creationId xmlns:a16="http://schemas.microsoft.com/office/drawing/2014/main" id="{2E817096-2D87-6053-B63D-31E85C98E482}"/>
              </a:ext>
            </a:extLst>
          </p:cNvPr>
          <p:cNvGrpSpPr/>
          <p:nvPr/>
        </p:nvGrpSpPr>
        <p:grpSpPr>
          <a:xfrm>
            <a:off x="228599" y="182879"/>
            <a:ext cx="640082" cy="640082"/>
            <a:chOff x="0" y="0"/>
            <a:chExt cx="640080" cy="640080"/>
          </a:xfrm>
        </p:grpSpPr>
        <p:sp>
          <p:nvSpPr>
            <p:cNvPr id="131" name="正方形">
              <a:extLst>
                <a:ext uri="{FF2B5EF4-FFF2-40B4-BE49-F238E27FC236}">
                  <a16:creationId xmlns:a16="http://schemas.microsoft.com/office/drawing/2014/main" id="{B628A0FC-BC5E-D4D7-83D7-4E554ECECB48}"/>
                </a:ext>
              </a:extLst>
            </p:cNvPr>
            <p:cNvSpPr/>
            <p:nvPr/>
          </p:nvSpPr>
          <p:spPr>
            <a:xfrm>
              <a:off x="-1" y="-1"/>
              <a:ext cx="640082" cy="640082"/>
            </a:xfrm>
            <a:prstGeom prst="rect">
              <a:avLst/>
            </a:prstGeom>
            <a:solidFill>
              <a:srgbClr val="2E86AB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2" name="01">
              <a:extLst>
                <a:ext uri="{FF2B5EF4-FFF2-40B4-BE49-F238E27FC236}">
                  <a16:creationId xmlns:a16="http://schemas.microsoft.com/office/drawing/2014/main" id="{FCFD0B0A-0AD2-0764-9385-4AB5751878A6}"/>
                </a:ext>
              </a:extLst>
            </p:cNvPr>
            <p:cNvSpPr txBox="1"/>
            <p:nvPr/>
          </p:nvSpPr>
          <p:spPr>
            <a:xfrm>
              <a:off x="45719" y="149949"/>
              <a:ext cx="548641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TextBox 5">
            <a:extLst>
              <a:ext uri="{FF2B5EF4-FFF2-40B4-BE49-F238E27FC236}">
                <a16:creationId xmlns:a16="http://schemas.microsoft.com/office/drawing/2014/main" id="{B12588CA-C543-636A-BB08-ED68FFD824DE}"/>
              </a:ext>
            </a:extLst>
          </p:cNvPr>
          <p:cNvSpPr txBox="1"/>
          <p:nvPr/>
        </p:nvSpPr>
        <p:spPr>
          <a:xfrm>
            <a:off x="1051559" y="201168"/>
            <a:ext cx="1014984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zh-CN" dirty="0"/>
              <a:t>A Different Approach: Anthropic</a:t>
            </a:r>
            <a:endParaRPr dirty="0"/>
          </a:p>
        </p:txBody>
      </p:sp>
      <p:sp>
        <p:nvSpPr>
          <p:cNvPr id="135" name="Rectangle 6">
            <a:extLst>
              <a:ext uri="{FF2B5EF4-FFF2-40B4-BE49-F238E27FC236}">
                <a16:creationId xmlns:a16="http://schemas.microsoft.com/office/drawing/2014/main" id="{EE2E05BD-9E69-29C0-F7B1-21EA8BABEE07}"/>
              </a:ext>
            </a:extLst>
          </p:cNvPr>
          <p:cNvSpPr/>
          <p:nvPr/>
        </p:nvSpPr>
        <p:spPr>
          <a:xfrm>
            <a:off x="228599" y="1097280"/>
            <a:ext cx="11704322" cy="27433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" name="TextBox 7">
            <a:extLst>
              <a:ext uri="{FF2B5EF4-FFF2-40B4-BE49-F238E27FC236}">
                <a16:creationId xmlns:a16="http://schemas.microsoft.com/office/drawing/2014/main" id="{38F551D1-0293-4538-F2F5-E0C5D157CB8B}"/>
              </a:ext>
            </a:extLst>
          </p:cNvPr>
          <p:cNvSpPr txBox="1"/>
          <p:nvPr/>
        </p:nvSpPr>
        <p:spPr>
          <a:xfrm>
            <a:off x="274319" y="1376484"/>
            <a:ext cx="11155682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br/>
            <a:endParaRPr/>
          </a:p>
          <a:p>
            <a:pPr>
              <a:defRPr sz="2000">
                <a:solidFill>
                  <a:srgbClr val="1A2B4A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　</a:t>
            </a:r>
          </a:p>
          <a:p>
            <a:pPr>
              <a:spcBef>
                <a:spcPts val="600"/>
              </a:spcBef>
              <a:defRPr sz="2000">
                <a:solidFill>
                  <a:srgbClr val="1A2B4A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AC6D-2059-4E08-59C5-85FDBCB59285}"/>
              </a:ext>
            </a:extLst>
          </p:cNvPr>
          <p:cNvSpPr txBox="1"/>
          <p:nvPr/>
        </p:nvSpPr>
        <p:spPr>
          <a:xfrm>
            <a:off x="442686" y="1524509"/>
            <a:ext cx="11151906" cy="2123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zh-CN" sz="2400" dirty="0"/>
              <a:t>Their Goal</a:t>
            </a:r>
          </a:p>
          <a:p>
            <a:pPr lvl="0"/>
            <a:r>
              <a:rPr lang="zh-CN" altLang="zh-CN" sz="2400" dirty="0"/>
              <a:t>Computer checking can reduce the burden on human reviewers</a:t>
            </a:r>
          </a:p>
          <a:p>
            <a:pPr lvl="0"/>
            <a:r>
              <a:rPr lang="zh-CN" altLang="zh-CN" sz="2400" dirty="0"/>
              <a:t>Make math </a:t>
            </a:r>
            <a:r>
              <a:rPr lang="zh-CN" altLang="zh-CN" sz="2400" i="1" dirty="0"/>
              <a:t>"easier, not harder, to trust"</a:t>
            </a:r>
            <a:endParaRPr lang="zh-CN" altLang="zh-CN" sz="2400" dirty="0"/>
          </a:p>
          <a:p>
            <a:r>
              <a:rPr lang="zh-CN" altLang="zh-CN" sz="2400" dirty="0"/>
              <a:t>OpenAI vs. Anthropic</a:t>
            </a:r>
          </a:p>
          <a:p>
            <a:br>
              <a:rPr lang="zh-CN" altLang="zh-CN" dirty="0"/>
            </a:b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A9C46BF-1D5A-F436-D4A0-65A772EF9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494649"/>
              </p:ext>
            </p:extLst>
          </p:nvPr>
        </p:nvGraphicFramePr>
        <p:xfrm>
          <a:off x="732989" y="3648165"/>
          <a:ext cx="9881466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3822">
                  <a:extLst>
                    <a:ext uri="{9D8B030D-6E8A-4147-A177-3AD203B41FA5}">
                      <a16:colId xmlns:a16="http://schemas.microsoft.com/office/drawing/2014/main" val="858257191"/>
                    </a:ext>
                  </a:extLst>
                </a:gridCol>
                <a:gridCol w="3293822">
                  <a:extLst>
                    <a:ext uri="{9D8B030D-6E8A-4147-A177-3AD203B41FA5}">
                      <a16:colId xmlns:a16="http://schemas.microsoft.com/office/drawing/2014/main" val="599235508"/>
                    </a:ext>
                  </a:extLst>
                </a:gridCol>
                <a:gridCol w="3293822">
                  <a:extLst>
                    <a:ext uri="{9D8B030D-6E8A-4147-A177-3AD203B41FA5}">
                      <a16:colId xmlns:a16="http://schemas.microsoft.com/office/drawing/2014/main" val="21301284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endParaRPr lang="zh-CN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altLang="zh-CN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OpenAI</a:t>
                      </a:r>
                      <a:endParaRPr lang="zh-CN" sz="18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Anthropic</a:t>
                      </a:r>
                      <a:endParaRPr lang="zh-CN" altLang="en-US" sz="18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278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sz="18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sz="18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Hundreds of papers at once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sz="18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Work with human mathematicians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44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sz="18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sz="18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~42% checked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sz="18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Fully checked by computer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157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sz="18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sz="18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Speed &amp;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rtl="0">
                        <a:buNone/>
                      </a:pPr>
                      <a:r>
                        <a:rPr lang="zh-CN" sz="18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Trust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265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88879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904B-FBF7-4932-CF65-9BB94610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2">
            <a:extLst>
              <a:ext uri="{FF2B5EF4-FFF2-40B4-BE49-F238E27FC236}">
                <a16:creationId xmlns:a16="http://schemas.microsoft.com/office/drawing/2014/main" id="{9867E630-7B8D-0B73-428E-86C681B851DC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A69F92CC-2A87-C394-C0E0-AA87A13DEE29}"/>
              </a:ext>
            </a:extLst>
          </p:cNvPr>
          <p:cNvSpPr/>
          <p:nvPr/>
        </p:nvSpPr>
        <p:spPr>
          <a:xfrm>
            <a:off x="-1" y="-1"/>
            <a:ext cx="12188954" cy="1051562"/>
          </a:xfrm>
          <a:prstGeom prst="rect">
            <a:avLst/>
          </a:prstGeom>
          <a:solidFill>
            <a:srgbClr val="1A2B4A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33" name="Rectangle 4">
            <a:extLst>
              <a:ext uri="{FF2B5EF4-FFF2-40B4-BE49-F238E27FC236}">
                <a16:creationId xmlns:a16="http://schemas.microsoft.com/office/drawing/2014/main" id="{C7B9159C-DDC0-C9C0-B356-BE95509F3F3B}"/>
              </a:ext>
            </a:extLst>
          </p:cNvPr>
          <p:cNvGrpSpPr/>
          <p:nvPr/>
        </p:nvGrpSpPr>
        <p:grpSpPr>
          <a:xfrm>
            <a:off x="228599" y="182879"/>
            <a:ext cx="640082" cy="640082"/>
            <a:chOff x="0" y="0"/>
            <a:chExt cx="640080" cy="640080"/>
          </a:xfrm>
        </p:grpSpPr>
        <p:sp>
          <p:nvSpPr>
            <p:cNvPr id="131" name="正方形">
              <a:extLst>
                <a:ext uri="{FF2B5EF4-FFF2-40B4-BE49-F238E27FC236}">
                  <a16:creationId xmlns:a16="http://schemas.microsoft.com/office/drawing/2014/main" id="{FD995765-AEF2-4D77-9340-DE2C13696517}"/>
                </a:ext>
              </a:extLst>
            </p:cNvPr>
            <p:cNvSpPr/>
            <p:nvPr/>
          </p:nvSpPr>
          <p:spPr>
            <a:xfrm>
              <a:off x="-1" y="-1"/>
              <a:ext cx="640082" cy="640082"/>
            </a:xfrm>
            <a:prstGeom prst="rect">
              <a:avLst/>
            </a:prstGeom>
            <a:solidFill>
              <a:srgbClr val="2E86AB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2" name="01">
              <a:extLst>
                <a:ext uri="{FF2B5EF4-FFF2-40B4-BE49-F238E27FC236}">
                  <a16:creationId xmlns:a16="http://schemas.microsoft.com/office/drawing/2014/main" id="{2EBD137C-5AF7-07F3-A27F-240A5FED01EF}"/>
                </a:ext>
              </a:extLst>
            </p:cNvPr>
            <p:cNvSpPr txBox="1"/>
            <p:nvPr/>
          </p:nvSpPr>
          <p:spPr>
            <a:xfrm>
              <a:off x="45719" y="149949"/>
              <a:ext cx="548641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000" b="1">
                  <a:solidFill>
                    <a:srgbClr val="FFFFFF"/>
                  </a:solidFill>
                </a:defRPr>
              </a:lvl1pPr>
            </a:lstStyle>
            <a:p>
              <a:r>
                <a:t>01</a:t>
              </a:r>
            </a:p>
          </p:txBody>
        </p:sp>
      </p:grpSp>
      <p:sp>
        <p:nvSpPr>
          <p:cNvPr id="134" name="TextBox 5">
            <a:extLst>
              <a:ext uri="{FF2B5EF4-FFF2-40B4-BE49-F238E27FC236}">
                <a16:creationId xmlns:a16="http://schemas.microsoft.com/office/drawing/2014/main" id="{8C0A4DFC-D930-FC1E-4EBF-9CBD12CF194E}"/>
              </a:ext>
            </a:extLst>
          </p:cNvPr>
          <p:cNvSpPr txBox="1"/>
          <p:nvPr/>
        </p:nvSpPr>
        <p:spPr>
          <a:xfrm>
            <a:off x="1051559" y="201168"/>
            <a:ext cx="10149841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rPr lang="zh-CN" altLang="zh-CN" dirty="0"/>
              <a:t>What Do You Think?</a:t>
            </a:r>
          </a:p>
        </p:txBody>
      </p:sp>
      <p:sp>
        <p:nvSpPr>
          <p:cNvPr id="135" name="Rectangle 6">
            <a:extLst>
              <a:ext uri="{FF2B5EF4-FFF2-40B4-BE49-F238E27FC236}">
                <a16:creationId xmlns:a16="http://schemas.microsoft.com/office/drawing/2014/main" id="{A911B491-9BF1-06F5-AA76-4FBF2C4875D0}"/>
              </a:ext>
            </a:extLst>
          </p:cNvPr>
          <p:cNvSpPr/>
          <p:nvPr/>
        </p:nvSpPr>
        <p:spPr>
          <a:xfrm>
            <a:off x="228599" y="1097280"/>
            <a:ext cx="11704322" cy="27433"/>
          </a:xfrm>
          <a:prstGeom prst="rect">
            <a:avLst/>
          </a:prstGeom>
          <a:solidFill>
            <a:srgbClr val="2E86AB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" name="TextBox 7">
            <a:extLst>
              <a:ext uri="{FF2B5EF4-FFF2-40B4-BE49-F238E27FC236}">
                <a16:creationId xmlns:a16="http://schemas.microsoft.com/office/drawing/2014/main" id="{B14E6D77-B94C-EEC5-506E-F743B7EEAF06}"/>
              </a:ext>
            </a:extLst>
          </p:cNvPr>
          <p:cNvSpPr txBox="1"/>
          <p:nvPr/>
        </p:nvSpPr>
        <p:spPr>
          <a:xfrm>
            <a:off x="274319" y="1376484"/>
            <a:ext cx="11155682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br/>
            <a:endParaRPr/>
          </a:p>
          <a:p>
            <a:pPr>
              <a:defRPr sz="2000">
                <a:solidFill>
                  <a:srgbClr val="1A2B4A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　</a:t>
            </a:r>
          </a:p>
          <a:p>
            <a:pPr>
              <a:spcBef>
                <a:spcPts val="600"/>
              </a:spcBef>
              <a:defRPr sz="2000">
                <a:solidFill>
                  <a:srgbClr val="1A2B4A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0AACD9-C6E5-61B6-8A2D-2CFFC49FA14D}"/>
              </a:ext>
            </a:extLst>
          </p:cNvPr>
          <p:cNvSpPr txBox="1"/>
          <p:nvPr/>
        </p:nvSpPr>
        <p:spPr>
          <a:xfrm>
            <a:off x="749299" y="2204867"/>
            <a:ext cx="11151906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Should we ride the AI wave, or slow down?</a:t>
            </a:r>
          </a:p>
          <a:p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</a:p>
          <a:p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My answer: Ride it — but with human checking.</a:t>
            </a:r>
          </a:p>
          <a:p>
            <a:endParaRPr kumimoji="0" lang="zh-CN" altLang="en-US" sz="24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54528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8230</TotalTime>
  <Words>236</Words>
  <Application>Microsoft Macintosh PowerPoint</Application>
  <PresentationFormat>自定义</PresentationFormat>
  <Paragraphs>55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房</dc:creator>
  <cp:lastModifiedBy>boukuhaku</cp:lastModifiedBy>
  <cp:revision>16</cp:revision>
  <dcterms:modified xsi:type="dcterms:W3CDTF">2026-10-13T10:20:19Z</dcterms:modified>
</cp:coreProperties>
</file>